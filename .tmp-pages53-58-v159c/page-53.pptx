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5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4F5FB">
                  <a:alpha val="100000"/>
                </a:srgbClr>
              </a:gs>
              <a:gs pos="100000">
                <a:srgbClr val="EEF0FA">
                  <a:alpha val="100000"/>
                </a:srgbClr>
              </a:gs>
            </a:gsLst>
            <a:lin ang="2700000" scaled="1"/>
          </a:gra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85725" y="-85725"/>
            <a:ext cx="9315450" cy="531495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350" y="-1628775"/>
            <a:ext cx="5257800" cy="525780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14400" y="2371725"/>
            <a:ext cx="3971925" cy="397192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71500" y="1628775"/>
            <a:ext cx="3028950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700" b="1" spc="219" kern="0" dirty="0">
                <a:solidFill>
                  <a:srgbClr val="7C3AED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CHAPTER · 第 2 章</a:t>
            </a:r>
            <a:endParaRPr lang="en-US" sz="700" dirty="0"/>
          </a:p>
        </p:txBody>
      </p:sp>
      <p:sp>
        <p:nvSpPr>
          <p:cNvPr id="8" name="Text 3"/>
          <p:cNvSpPr/>
          <p:nvPr/>
        </p:nvSpPr>
        <p:spPr>
          <a:xfrm>
            <a:off x="571500" y="2137696"/>
            <a:ext cx="3086100" cy="14573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75"/>
              </a:lnSpc>
              <a:buNone/>
            </a:pPr>
            <a:r>
              <a:rPr lang="en-US" sz="13500" b="1" spc="-540" kern="0" dirty="0">
                <a:gradFill rotWithShape="1">
                  <a:gsLst>
                    <a:gs pos="0">
                      <a:srgbClr val="4F46E5">
                        <a:alpha val="100000"/>
                      </a:srgbClr>
                    </a:gs>
                    <a:gs pos="50000">
                      <a:srgbClr val="7C3AED">
                        <a:alpha val="100000"/>
                      </a:srgbClr>
                    </a:gs>
                    <a:gs pos="100000">
                      <a:srgbClr val="A78BFA">
                        <a:alpha val="100000"/>
                      </a:srgbClr>
                    </a:gs>
                  </a:gsLst>
                  <a:lin ang="2700000" scaled="1"/>
                </a:gra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3500" dirty="0"/>
          </a:p>
        </p:txBody>
      </p:sp>
      <p:sp>
        <p:nvSpPr>
          <p:cNvPr id="9" name="Shape 4"/>
          <p:cNvSpPr/>
          <p:nvPr/>
        </p:nvSpPr>
        <p:spPr>
          <a:xfrm>
            <a:off x="571500" y="3493294"/>
            <a:ext cx="428625" cy="21431"/>
          </a:xfrm>
          <a:prstGeom prst="roundRect">
            <a:avLst>
              <a:gd name="adj" fmla="val 50001"/>
            </a:avLst>
          </a:prstGeom>
          <a:gradFill rotWithShape="1">
            <a:gsLst>
              <a:gs pos="0">
                <a:srgbClr val="4F46E5">
                  <a:alpha val="100000"/>
                </a:srgbClr>
              </a:gs>
              <a:gs pos="100000">
                <a:srgbClr val="A78BFA">
                  <a:alpha val="100000"/>
                </a:srgbClr>
              </a:gs>
            </a:gsLst>
            <a:lin ang="0" scaled="1"/>
          </a:gradFill>
          <a:ln/>
        </p:spPr>
      </p:sp>
      <p:grpSp>
        <p:nvGrpSpPr>
          <p:cNvPr id="27" name="Card: 场景一：智能创作"/>
          <p:cNvGrpSpPr/>
          <p:nvPr/>
        </p:nvGrpSpPr>
        <p:grpSpPr>
          <a:xfrm>
            <a:off x="3571875" y="1571625"/>
            <a:ext cx="5229225" cy="2000250"/>
            <a:chOff x="3571875" y="1571625"/>
            <a:chExt cx="5229225" cy="2000250"/>
          </a:xfrm>
        </p:grpSpPr>
        <p:sp>
          <p:nvSpPr>
            <p:cNvPr id="10" name="shape [lp:0]"/>
            <p:cNvSpPr/>
            <p:nvPr/>
          </p:nvSpPr>
          <p:spPr>
            <a:xfrm>
              <a:off x="3571875" y="1571625"/>
              <a:ext cx="5143500" cy="2000250"/>
            </a:xfrm>
            <a:prstGeom prst="rect">
              <a:avLst/>
            </a:prstGeom>
            <a:ln/>
          </p:spPr>
        </p:sp>
        <p:sp>
          <p:nvSpPr>
            <p:cNvPr id="11" name="CSS border left 32 [lp:1]"/>
            <p:cNvSpPr/>
            <p:nvPr/>
          </p:nvSpPr>
          <p:spPr>
            <a:xfrm>
              <a:off x="3571875" y="1571625"/>
              <a:ext cx="7144" cy="2000250"/>
            </a:xfrm>
            <a:custGeom>
              <a:avLst/>
              <a:gdLst/>
              <a:ahLst/>
              <a:cxnLst/>
              <a:rect l="l" t="t" r="r" b="b"/>
              <a:pathLst>
                <a:path w="7144" h="2000250">
                  <a:moveTo>
                    <a:pt x="0" y="2000250"/>
                  </a:moveTo>
                  <a:lnTo>
                    <a:pt x="0" y="0"/>
                  </a:lnTo>
                  <a:lnTo>
                    <a:pt x="7144" y="0"/>
                  </a:lnTo>
                  <a:lnTo>
                    <a:pt x="7144" y="2000250"/>
                  </a:lnTo>
                  <a:close/>
                </a:path>
              </a:pathLst>
            </a:custGeom>
            <a:solidFill>
              <a:srgbClr val="7C3AED">
                <a:alpha val="15000"/>
              </a:srgbClr>
            </a:solidFill>
            <a:ln/>
          </p:spPr>
        </p:sp>
        <p:sp>
          <p:nvSpPr>
            <p:cNvPr id="12" name="shape [lp:2]"/>
            <p:cNvSpPr/>
            <p:nvPr/>
          </p:nvSpPr>
          <p:spPr>
            <a:xfrm>
              <a:off x="3924151" y="1791742"/>
              <a:ext cx="878681" cy="207169"/>
            </a:xfrm>
            <a:prstGeom prst="roundRect">
              <a:avLst>
                <a:gd name="adj" fmla="val 50000"/>
              </a:avLst>
            </a:prstGeom>
            <a:solidFill>
              <a:srgbClr val="A78BFA">
                <a:alpha val="12000"/>
              </a:srgbClr>
            </a:solidFill>
            <a:ln w="7144">
              <a:solidFill>
                <a:srgbClr val="7C3AED">
                  <a:alpha val="18000"/>
                </a:srgbClr>
              </a:solidFill>
              <a:prstDash val="solid"/>
            </a:ln>
          </p:spPr>
        </p:sp>
        <p:sp>
          <p:nvSpPr>
            <p:cNvPr id="13" name="shape [lp:3]"/>
            <p:cNvSpPr/>
            <p:nvPr/>
          </p:nvSpPr>
          <p:spPr>
            <a:xfrm>
              <a:off x="4029075" y="1873895"/>
              <a:ext cx="42863" cy="42863"/>
            </a:xfrm>
            <a:prstGeom prst="ellipse">
              <a:avLst/>
            </a:prstGeom>
            <a:solidFill>
              <a:srgbClr val="7C3AED"/>
            </a:solidFill>
            <a:ln/>
          </p:spPr>
        </p:sp>
        <p:sp>
          <p:nvSpPr>
            <p:cNvPr id="14" name="text [lp:4]"/>
            <p:cNvSpPr/>
            <p:nvPr/>
          </p:nvSpPr>
          <p:spPr>
            <a:xfrm>
              <a:off x="4143375" y="1838176"/>
              <a:ext cx="554534" cy="1143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600" b="1" spc="81" kern="0" dirty="0">
                  <a:solidFill>
                    <a:srgbClr val="6D28D9"/>
                  </a:solidFill>
                  <a:latin typeface="Microsoft YaHei" pitchFamily="34" charset="0"/>
                  <a:ea typeface="微软雅黑" pitchFamily="34" charset="-122"/>
                  <a:cs typeface="微软雅黑" pitchFamily="34" charset="-120"/>
                </a:rPr>
                <a:t>SECTION 2</a:t>
              </a:r>
              <a:endParaRPr lang="en-US" sz="600" dirty="0"/>
            </a:p>
          </p:txBody>
        </p:sp>
        <p:sp>
          <p:nvSpPr>
            <p:cNvPr id="15" name="text [lp:5]"/>
            <p:cNvSpPr/>
            <p:nvPr/>
          </p:nvSpPr>
          <p:spPr>
            <a:xfrm>
              <a:off x="3921919" y="2160315"/>
              <a:ext cx="4879181" cy="407194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3218"/>
                </a:lnSpc>
                <a:buNone/>
              </a:pPr>
              <a:r>
                <a:rPr lang="zh-CN" altLang="en-US" sz="2900" b="1" spc="-58" kern="0" dirty="0">
                  <a:solidFill>
                    <a:srgbClr val="1E1B4B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场景一：智能创作</a:t>
              </a:r>
              <a:endParaRPr lang="en-US" sz="2900" dirty="0"/>
            </a:p>
          </p:txBody>
        </p:sp>
        <p:sp>
          <p:nvSpPr>
            <p:cNvPr id="16" name="text [lp:6]"/>
            <p:cNvSpPr/>
            <p:nvPr/>
          </p:nvSpPr>
          <p:spPr>
            <a:xfrm>
              <a:off x="3921919" y="2696040"/>
              <a:ext cx="3746897" cy="207169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620"/>
                </a:lnSpc>
                <a:buNone/>
              </a:pPr>
              <a:r>
                <a:rPr lang="zh-CN" altLang="en-US" sz="1000" dirty="0">
                  <a:solidFill>
                    <a:srgbClr val="4B5563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只知道要做一份PPT，没想好具体讲什么、做几页、怎么组织</a:t>
              </a:r>
              <a:endParaRPr lang="en-US" sz="1000" dirty="0"/>
            </a:p>
          </p:txBody>
        </p:sp>
        <p:sp>
          <p:nvSpPr>
            <p:cNvPr id="17" name="shape [lp:7]"/>
            <p:cNvSpPr/>
            <p:nvPr/>
          </p:nvSpPr>
          <p:spPr>
            <a:xfrm>
              <a:off x="3921919" y="3075329"/>
              <a:ext cx="3571875" cy="278606"/>
            </a:xfrm>
            <a:prstGeom prst="rect">
              <a:avLst/>
            </a:prstGeom>
            <a:ln/>
          </p:spPr>
        </p:sp>
        <p:sp>
          <p:nvSpPr>
            <p:cNvPr id="18" name="CSS border top 42 [lp:8]"/>
            <p:cNvSpPr/>
            <p:nvPr/>
          </p:nvSpPr>
          <p:spPr>
            <a:xfrm>
              <a:off x="3921919" y="3075329"/>
              <a:ext cx="3571875" cy="7144"/>
            </a:xfrm>
            <a:custGeom>
              <a:avLst/>
              <a:gdLst/>
              <a:ahLst/>
              <a:cxnLst/>
              <a:rect l="l" t="t" r="r" b="b"/>
              <a:pathLst>
                <a:path w="3571875" h="7144">
                  <a:moveTo>
                    <a:pt x="0" y="0"/>
                  </a:moveTo>
                  <a:lnTo>
                    <a:pt x="3571875" y="0"/>
                  </a:lnTo>
                  <a:lnTo>
                    <a:pt x="3571875" y="7144"/>
                  </a:lnTo>
                  <a:lnTo>
                    <a:pt x="0" y="7144"/>
                  </a:lnTo>
                  <a:close/>
                </a:path>
              </a:pathLst>
            </a:custGeom>
            <a:solidFill>
              <a:srgbClr val="7C3AED">
                <a:alpha val="12000"/>
              </a:srgbClr>
            </a:solidFill>
            <a:ln/>
          </p:spPr>
        </p:sp>
        <p:sp>
          <p:nvSpPr>
            <p:cNvPr id="19" name="text [lp:9]"/>
            <p:cNvSpPr/>
            <p:nvPr/>
          </p:nvSpPr>
          <p:spPr>
            <a:xfrm>
              <a:off x="3921919" y="3075329"/>
              <a:ext cx="3571875" cy="278606"/>
            </a:xfrm>
            <a:prstGeom prst="rect">
              <a:avLst/>
            </a:prstGeom>
            <a:ln/>
          </p:spPr>
          <p:txBody>
            <a:bodyPr wrap="square" lIns="0" tIns="114300" rIns="0" bIns="0" rtlCol="0" anchor="t"/>
            <a:lstStyle/>
            <a:p>
              <a:pPr algn="l" indent="0" marL="0">
                <a:lnSpc>
                  <a:spcPts val="1260"/>
                </a:lnSpc>
                <a:buNone/>
              </a:pPr>
              <a:r>
                <a:rPr lang="zh-CN" altLang="en-US" sz="700" dirty="0">
                  <a:solidFill>
                    <a:srgbClr val="6B7280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还在为「不知道该怎么做PPT」而发愁吗？ 让AI帮你迈出第一步</a:t>
              </a:r>
              <a:endParaRPr lang="en-US" sz="700" dirty="0"/>
            </a:p>
          </p:txBody>
        </p:sp>
      </p:grpSp>
      <p:sp>
        <p:nvSpPr>
          <p:cNvPr id="20" name="Shape 15"/>
          <p:cNvSpPr/>
          <p:nvPr/>
        </p:nvSpPr>
        <p:spPr>
          <a:xfrm>
            <a:off x="428625" y="282178"/>
            <a:ext cx="71438" cy="71438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F46E5">
                  <a:alpha val="100000"/>
                </a:srgbClr>
              </a:gs>
              <a:gs pos="100000">
                <a:srgbClr val="7C3AED">
                  <a:alpha val="100000"/>
                </a:srgbClr>
              </a:gs>
            </a:gsLst>
            <a:lin ang="2700000" scaled="1"/>
          </a:gradFill>
          <a:ln/>
          <a:effectLst>
            <a:outerShdw sx="100000" sy="100000" kx="0" ky="0" algn="bl" rotWithShape="0" blurRad="85725" dist="28575" dir="5400000">
              <a:srgbClr val="4F46E5">
                <a:alpha val="40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585564" y="257175"/>
            <a:ext cx="1064419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700" spc="29" kern="0" dirty="0">
                <a:solidFill>
                  <a:srgbClr val="4B5563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零售应用架构二室(成都)</a:t>
            </a:r>
            <a:endParaRPr lang="en-US" sz="700" dirty="0"/>
          </a:p>
        </p:txBody>
      </p:sp>
      <p:sp>
        <p:nvSpPr>
          <p:cNvPr id="22" name="Text 17"/>
          <p:cNvSpPr/>
          <p:nvPr/>
        </p:nvSpPr>
        <p:spPr>
          <a:xfrm>
            <a:off x="1707189" y="257175"/>
            <a:ext cx="71438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spc="29" kern="0" dirty="0">
                <a:solidFill>
                  <a:srgbClr val="C4B5FD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/</a:t>
            </a:r>
            <a:endParaRPr lang="en-US" sz="700" dirty="0"/>
          </a:p>
        </p:txBody>
      </p:sp>
      <p:sp>
        <p:nvSpPr>
          <p:cNvPr id="23" name="Text 18"/>
          <p:cNvSpPr/>
          <p:nvPr/>
        </p:nvSpPr>
        <p:spPr>
          <a:xfrm>
            <a:off x="1836000" y="257175"/>
            <a:ext cx="1393031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700" spc="29" kern="0" dirty="0">
                <a:solidFill>
                  <a:srgbClr val="4B5563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ClawPartner PPT智能生成助手</a:t>
            </a:r>
            <a:endParaRPr lang="en-US" sz="700" dirty="0"/>
          </a:p>
        </p:txBody>
      </p:sp>
      <p:sp>
        <p:nvSpPr>
          <p:cNvPr id="24" name="Text 19"/>
          <p:cNvSpPr/>
          <p:nvPr/>
        </p:nvSpPr>
        <p:spPr>
          <a:xfrm>
            <a:off x="8481138" y="257175"/>
            <a:ext cx="264319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spc="29" kern="0" dirty="0">
                <a:solidFill>
                  <a:srgbClr val="4B5563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2026</a:t>
            </a:r>
            <a:endParaRPr lang="en-US" sz="700" dirty="0"/>
          </a:p>
        </p:txBody>
      </p:sp>
      <p:sp>
        <p:nvSpPr>
          <p:cNvPr id="25" name="Text 20"/>
          <p:cNvSpPr/>
          <p:nvPr/>
        </p:nvSpPr>
        <p:spPr>
          <a:xfrm>
            <a:off x="427397" y="4829175"/>
            <a:ext cx="1007269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600" spc="41" kern="0" dirty="0">
                <a:solidFill>
                  <a:srgbClr val="6B7280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零售应用架构二室(成都)</a:t>
            </a:r>
            <a:endParaRPr lang="en-US" sz="600" dirty="0"/>
          </a:p>
        </p:txBody>
      </p:sp>
      <p:sp>
        <p:nvSpPr>
          <p:cNvPr id="26" name="Shape 21"/>
          <p:cNvSpPr/>
          <p:nvPr/>
        </p:nvSpPr>
        <p:spPr>
          <a:xfrm>
            <a:off x="1548966" y="4882753"/>
            <a:ext cx="7022306" cy="7144"/>
          </a:xfrm>
          <a:prstGeom prst="rect">
            <a:avLst/>
          </a:prstGeom>
          <a:gradFill rotWithShape="1">
            <a:gsLst>
              <a:gs pos="0">
                <a:srgbClr val="7C3AED">
                  <a:alpha val="0"/>
                </a:srgbClr>
              </a:gs>
              <a:gs pos="3125">
                <a:srgbClr val="7C3AED">
                  <a:alpha val="1875"/>
                </a:srgbClr>
              </a:gs>
              <a:gs pos="6250">
                <a:srgbClr val="7C3AED">
                  <a:alpha val="3750"/>
                </a:srgbClr>
              </a:gs>
              <a:gs pos="9375">
                <a:srgbClr val="7C3AED">
                  <a:alpha val="5625"/>
                </a:srgbClr>
              </a:gs>
              <a:gs pos="12500">
                <a:srgbClr val="7C3AED">
                  <a:alpha val="7500"/>
                </a:srgbClr>
              </a:gs>
              <a:gs pos="15625">
                <a:srgbClr val="7C3AED">
                  <a:alpha val="9375"/>
                </a:srgbClr>
              </a:gs>
              <a:gs pos="18750">
                <a:srgbClr val="7C3AED">
                  <a:alpha val="11250"/>
                </a:srgbClr>
              </a:gs>
              <a:gs pos="21875">
                <a:srgbClr val="7C3AED">
                  <a:alpha val="13125"/>
                </a:srgbClr>
              </a:gs>
              <a:gs pos="25000">
                <a:srgbClr val="7C3AED">
                  <a:alpha val="15000"/>
                </a:srgbClr>
              </a:gs>
              <a:gs pos="28125">
                <a:srgbClr val="7C3AED">
                  <a:alpha val="16875"/>
                </a:srgbClr>
              </a:gs>
              <a:gs pos="31250">
                <a:srgbClr val="7C3AED">
                  <a:alpha val="18750"/>
                </a:srgbClr>
              </a:gs>
              <a:gs pos="34375">
                <a:srgbClr val="7C3AED">
                  <a:alpha val="20625"/>
                </a:srgbClr>
              </a:gs>
              <a:gs pos="37500">
                <a:srgbClr val="7C3AED">
                  <a:alpha val="22500"/>
                </a:srgbClr>
              </a:gs>
              <a:gs pos="40625">
                <a:srgbClr val="7C3AED">
                  <a:alpha val="24375"/>
                </a:srgbClr>
              </a:gs>
              <a:gs pos="43750">
                <a:srgbClr val="7C3AED">
                  <a:alpha val="26250"/>
                </a:srgbClr>
              </a:gs>
              <a:gs pos="46875">
                <a:srgbClr val="7C3AED">
                  <a:alpha val="28125"/>
                </a:srgbClr>
              </a:gs>
              <a:gs pos="50000">
                <a:srgbClr val="7C3AED">
                  <a:alpha val="30000"/>
                </a:srgbClr>
              </a:gs>
              <a:gs pos="53125">
                <a:srgbClr val="7C3AED">
                  <a:alpha val="28125"/>
                </a:srgbClr>
              </a:gs>
              <a:gs pos="56250">
                <a:srgbClr val="7C3AED">
                  <a:alpha val="26250"/>
                </a:srgbClr>
              </a:gs>
              <a:gs pos="59375">
                <a:srgbClr val="7C3AED">
                  <a:alpha val="24375"/>
                </a:srgbClr>
              </a:gs>
              <a:gs pos="62500">
                <a:srgbClr val="7C3AED">
                  <a:alpha val="22500"/>
                </a:srgbClr>
              </a:gs>
              <a:gs pos="65625">
                <a:srgbClr val="7C3AED">
                  <a:alpha val="20625"/>
                </a:srgbClr>
              </a:gs>
              <a:gs pos="68750">
                <a:srgbClr val="7C3AED">
                  <a:alpha val="18750"/>
                </a:srgbClr>
              </a:gs>
              <a:gs pos="71875">
                <a:srgbClr val="7C3AED">
                  <a:alpha val="16875"/>
                </a:srgbClr>
              </a:gs>
              <a:gs pos="75000">
                <a:srgbClr val="7C3AED">
                  <a:alpha val="15000"/>
                </a:srgbClr>
              </a:gs>
              <a:gs pos="78125">
                <a:srgbClr val="7C3AED">
                  <a:alpha val="13125"/>
                </a:srgbClr>
              </a:gs>
              <a:gs pos="81250">
                <a:srgbClr val="7C3AED">
                  <a:alpha val="11250"/>
                </a:srgbClr>
              </a:gs>
              <a:gs pos="84375">
                <a:srgbClr val="7C3AED">
                  <a:alpha val="9375"/>
                </a:srgbClr>
              </a:gs>
              <a:gs pos="87500">
                <a:srgbClr val="7C3AED">
                  <a:alpha val="7500"/>
                </a:srgbClr>
              </a:gs>
              <a:gs pos="90625">
                <a:srgbClr val="7C3AED">
                  <a:alpha val="5625"/>
                </a:srgbClr>
              </a:gs>
              <a:gs pos="93750">
                <a:srgbClr val="7C3AED">
                  <a:alpha val="3750"/>
                </a:srgbClr>
              </a:gs>
              <a:gs pos="96875">
                <a:srgbClr val="7C3AED">
                  <a:alpha val="1875"/>
                </a:srgbClr>
              </a:gs>
              <a:gs pos="100000">
                <a:srgbClr val="7C3AED">
                  <a:alpha val="0"/>
                </a:srgbClr>
              </a:gs>
            </a:gsLst>
            <a:lin ang="0" scaled="1"/>
          </a:gra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2026-09-15T06:36:45Z</dcterms:created>
  <dcterms:modified xsi:type="dcterms:W3CDTF">2026-09-15T06:36:45Z</dcterms:modified>
</cp:coreProperties>
</file>