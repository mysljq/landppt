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100000">
                <a:srgbClr val="EEF0FA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-1343025"/>
            <a:ext cx="3971925" cy="397192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2962" y="2871787"/>
            <a:ext cx="3257550" cy="3257550"/>
          </a:xfrm>
          <a:prstGeom prst="rect">
            <a:avLst/>
          </a:prstGeom>
        </p:spPr>
      </p:pic>
      <p:sp>
        <p:nvSpPr>
          <p:cNvPr id="7" name="shape [lp:0]"/>
          <p:cNvSpPr/>
          <p:nvPr/>
        </p:nvSpPr>
        <p:spPr>
          <a:xfrm>
            <a:off x="428625" y="1250156"/>
            <a:ext cx="4000500" cy="3464719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2875" dist="28575" dir="5400000">
              <a:srgbClr val="4F46E5">
                <a:alpha val="8000"/>
              </a:srgbClr>
            </a:outerShdw>
          </a:effectLst>
        </p:spPr>
      </p:sp>
      <p:sp>
        <p:nvSpPr>
          <p:cNvPr id="8" name="shape [lp:1]"/>
          <p:cNvSpPr/>
          <p:nvPr/>
        </p:nvSpPr>
        <p:spPr>
          <a:xfrm>
            <a:off x="428625" y="1250156"/>
            <a:ext cx="4000500" cy="292894"/>
          </a:xfrm>
          <a:custGeom>
            <a:avLst/>
            <a:gdLst/>
            <a:ahLst/>
            <a:cxnLst/>
            <a:rect l="l" t="t" r="r" b="b"/>
            <a:pathLst>
              <a:path w="4000500" h="292894">
                <a:moveTo>
                  <a:pt x="114300" y="0"/>
                </a:moveTo>
                <a:lnTo>
                  <a:pt x="3886200" y="0"/>
                </a:lnTo>
                <a:arcTo hR="114300" wR="114300" stAng="16200000" swAng="5400000"/>
                <a:lnTo>
                  <a:pt x="4000500" y="292894"/>
                </a:lnTo>
                <a:lnTo>
                  <a:pt x="4000500" y="292894"/>
                </a:lnTo>
                <a:lnTo>
                  <a:pt x="0" y="292894"/>
                </a:lnTo>
                <a:lnTo>
                  <a:pt x="0" y="292894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gradFill rotWithShape="1">
            <a:gsLst>
              <a:gs pos="0">
                <a:srgbClr val="F59E0B">
                  <a:alpha val="100000"/>
                </a:srgbClr>
              </a:gs>
              <a:gs pos="100000">
                <a:srgbClr val="D97706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9" name="image [lp:2]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625" y="1585913"/>
            <a:ext cx="28575" cy="3086100"/>
          </a:xfrm>
          <a:prstGeom prst="rect">
            <a:avLst/>
          </a:prstGeom>
        </p:spPr>
      </p:pic>
      <p:sp>
        <p:nvSpPr>
          <p:cNvPr id="10" name="text [lp:3]"/>
          <p:cNvSpPr/>
          <p:nvPr/>
        </p:nvSpPr>
        <p:spPr>
          <a:xfrm>
            <a:off x="628650" y="1743075"/>
            <a:ext cx="3607594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材料已完备，演示难呈现</a:t>
            </a:r>
            <a:endParaRPr lang="en-US" sz="1100" dirty="0"/>
          </a:p>
        </p:txBody>
      </p:sp>
      <p:sp>
        <p:nvSpPr>
          <p:cNvPr id="11" name="text [lp:4]"/>
          <p:cNvSpPr/>
          <p:nvPr/>
        </p:nvSpPr>
        <p:spPr>
          <a:xfrm>
            <a:off x="628650" y="2043782"/>
            <a:ext cx="3571875" cy="4357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zh-CN" altLang="en-US" sz="10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材料或方案文档已经写好，难点是把「适合阅读」变成「适合</a:t>
            </a:r>
            <a:endParaRPr lang="en-US" sz="1000" dirty="0"/>
          </a:p>
          <a:p>
            <a:pPr algn="l" indent="0" marL="0">
              <a:lnSpc>
                <a:spcPts val="1721"/>
              </a:lnSpc>
              <a:buNone/>
            </a:pPr>
            <a:r>
              <a:rPr lang="zh-CN" altLang="en-US" sz="10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演示」。</a:t>
            </a:r>
            <a:endParaRPr lang="en-US" sz="1000" dirty="0"/>
          </a:p>
        </p:txBody>
      </p:sp>
      <p:sp>
        <p:nvSpPr>
          <p:cNvPr id="12" name="shape [lp:5]"/>
          <p:cNvSpPr/>
          <p:nvPr/>
        </p:nvSpPr>
        <p:spPr>
          <a:xfrm>
            <a:off x="4714875" y="1250156"/>
            <a:ext cx="4000500" cy="3464719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2875" dist="28575" dir="5400000">
              <a:srgbClr val="4F46E5">
                <a:alpha val="8000"/>
              </a:srgbClr>
            </a:outerShdw>
          </a:effectLst>
        </p:spPr>
      </p:sp>
      <p:sp>
        <p:nvSpPr>
          <p:cNvPr id="13" name="shape [lp:6]"/>
          <p:cNvSpPr/>
          <p:nvPr/>
        </p:nvSpPr>
        <p:spPr>
          <a:xfrm>
            <a:off x="4714875" y="1250156"/>
            <a:ext cx="4000500" cy="292894"/>
          </a:xfrm>
          <a:custGeom>
            <a:avLst/>
            <a:gdLst/>
            <a:ahLst/>
            <a:cxnLst/>
            <a:rect l="l" t="t" r="r" b="b"/>
            <a:pathLst>
              <a:path w="4000500" h="292894">
                <a:moveTo>
                  <a:pt x="114300" y="0"/>
                </a:moveTo>
                <a:lnTo>
                  <a:pt x="3886200" y="0"/>
                </a:lnTo>
                <a:arcTo hR="114300" wR="114300" stAng="16200000" swAng="5400000"/>
                <a:lnTo>
                  <a:pt x="4000500" y="292894"/>
                </a:lnTo>
                <a:lnTo>
                  <a:pt x="4000500" y="292894"/>
                </a:lnTo>
                <a:lnTo>
                  <a:pt x="0" y="292894"/>
                </a:lnTo>
                <a:lnTo>
                  <a:pt x="0" y="292894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gradFill rotWithShape="1">
            <a:gsLst>
              <a:gs pos="0">
                <a:srgbClr val="10B981">
                  <a:alpha val="100000"/>
                </a:srgbClr>
              </a:gs>
              <a:gs pos="100000">
                <a:srgbClr val="059669">
                  <a:alpha val="100000"/>
                </a:srgbClr>
              </a:gs>
            </a:gsLst>
            <a:lin ang="2700000" scaled="1"/>
          </a:gradFill>
          <a:ln/>
        </p:spPr>
      </p:sp>
      <p:sp>
        <p:nvSpPr>
          <p:cNvPr id="14" name="text [lp:7]"/>
          <p:cNvSpPr/>
          <p:nvPr/>
        </p:nvSpPr>
        <p:spPr>
          <a:xfrm>
            <a:off x="4943475" y="1743075"/>
            <a:ext cx="3579019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内容已写完，把排版交给AI</a:t>
            </a:r>
            <a:endParaRPr lang="en-US" sz="1100" dirty="0"/>
          </a:p>
        </p:txBody>
      </p:sp>
      <p:sp>
        <p:nvSpPr>
          <p:cNvPr id="15" name="shape [lp:8]"/>
          <p:cNvSpPr/>
          <p:nvPr/>
        </p:nvSpPr>
        <p:spPr>
          <a:xfrm>
            <a:off x="4943475" y="2093119"/>
            <a:ext cx="57150" cy="57150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57150" dist="14288" dir="5400000">
              <a:srgbClr val="4F46E5">
                <a:alpha val="30000"/>
              </a:srgbClr>
            </a:outerShdw>
          </a:effectLst>
        </p:spPr>
      </p:sp>
      <p:sp>
        <p:nvSpPr>
          <p:cNvPr id="16" name="text [lp:9]"/>
          <p:cNvSpPr/>
          <p:nvPr/>
        </p:nvSpPr>
        <p:spPr>
          <a:xfrm>
            <a:off x="5100638" y="2043113"/>
            <a:ext cx="197167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上传文档</a:t>
            </a:r>
            <a:pPr algn="l" indent="0" marL="0">
              <a:lnSpc>
                <a:spcPts val="1350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：支持报告、方案或完整文档</a:t>
            </a:r>
            <a:endParaRPr lang="en-US" sz="900" dirty="0"/>
          </a:p>
        </p:txBody>
      </p:sp>
      <p:sp>
        <p:nvSpPr>
          <p:cNvPr id="17" name="shape [lp:10]"/>
          <p:cNvSpPr/>
          <p:nvPr/>
        </p:nvSpPr>
        <p:spPr>
          <a:xfrm>
            <a:off x="4943475" y="2378869"/>
            <a:ext cx="57150" cy="57150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57150" dist="14288" dir="5400000">
              <a:srgbClr val="4F46E5">
                <a:alpha val="30000"/>
              </a:srgbClr>
            </a:outerShdw>
          </a:effectLst>
        </p:spPr>
      </p:sp>
      <p:sp>
        <p:nvSpPr>
          <p:cNvPr id="18" name="text [lp:11]"/>
          <p:cNvSpPr/>
          <p:nvPr/>
        </p:nvSpPr>
        <p:spPr>
          <a:xfrm>
            <a:off x="5100637" y="2328863"/>
            <a:ext cx="185737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保留逻辑</a:t>
            </a:r>
            <a:pPr algn="l" indent="0" marL="0">
              <a:lnSpc>
                <a:spcPts val="1350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：原有观点、文字原样呈现</a:t>
            </a:r>
            <a:endParaRPr lang="en-US" sz="900" dirty="0"/>
          </a:p>
        </p:txBody>
      </p:sp>
      <p:sp>
        <p:nvSpPr>
          <p:cNvPr id="19" name="shape [lp:12]"/>
          <p:cNvSpPr/>
          <p:nvPr/>
        </p:nvSpPr>
        <p:spPr>
          <a:xfrm>
            <a:off x="4943475" y="2664619"/>
            <a:ext cx="57150" cy="57150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57150" dist="14288" dir="5400000">
              <a:srgbClr val="4F46E5">
                <a:alpha val="30000"/>
              </a:srgbClr>
            </a:outerShdw>
          </a:effectLst>
        </p:spPr>
      </p:sp>
      <p:sp>
        <p:nvSpPr>
          <p:cNvPr id="20" name="text [lp:13]"/>
          <p:cNvSpPr/>
          <p:nvPr/>
        </p:nvSpPr>
        <p:spPr>
          <a:xfrm>
            <a:off x="5100638" y="2614613"/>
            <a:ext cx="162877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生成大纲</a:t>
            </a:r>
            <a:pPr algn="l" indent="0" marL="0">
              <a:lnSpc>
                <a:spcPts val="1350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：先产出逐页详细结构</a:t>
            </a:r>
            <a:endParaRPr lang="en-US" sz="900" dirty="0"/>
          </a:p>
        </p:txBody>
      </p:sp>
      <p:sp>
        <p:nvSpPr>
          <p:cNvPr id="21" name="shape [lp:14]"/>
          <p:cNvSpPr/>
          <p:nvPr/>
        </p:nvSpPr>
        <p:spPr>
          <a:xfrm>
            <a:off x="4943475" y="2950369"/>
            <a:ext cx="57150" cy="57150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57150" dist="14288" dir="5400000">
              <a:srgbClr val="4F46E5">
                <a:alpha val="30000"/>
              </a:srgbClr>
            </a:outerShdw>
          </a:effectLst>
        </p:spPr>
      </p:sp>
      <p:sp>
        <p:nvSpPr>
          <p:cNvPr id="22" name="text [lp:15]"/>
          <p:cNvSpPr/>
          <p:nvPr/>
        </p:nvSpPr>
        <p:spPr>
          <a:xfrm>
            <a:off x="5100638" y="2900362"/>
            <a:ext cx="197167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确认后再生成</a:t>
            </a:r>
            <a:pPr algn="l" indent="0" marL="0">
              <a:lnSpc>
                <a:spcPts val="1350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：确保内容无误进入设计</a:t>
            </a:r>
            <a:endParaRPr lang="en-US" sz="900" dirty="0"/>
          </a:p>
        </p:txBody>
      </p:sp>
      <p:sp>
        <p:nvSpPr>
          <p:cNvPr id="23" name="shape [lp:16]"/>
          <p:cNvSpPr/>
          <p:nvPr/>
        </p:nvSpPr>
        <p:spPr>
          <a:xfrm>
            <a:off x="4943475" y="4193381"/>
            <a:ext cx="3543300" cy="321469"/>
          </a:xfrm>
          <a:prstGeom prst="rect">
            <a:avLst/>
          </a:prstGeom>
          <a:ln/>
        </p:spPr>
      </p:sp>
      <p:sp>
        <p:nvSpPr>
          <p:cNvPr id="24" name="CSS border top 86 [lp:17]"/>
          <p:cNvSpPr/>
          <p:nvPr/>
        </p:nvSpPr>
        <p:spPr>
          <a:xfrm>
            <a:off x="4943475" y="4193381"/>
            <a:ext cx="3543300" cy="7144"/>
          </a:xfrm>
          <a:custGeom>
            <a:avLst/>
            <a:gdLst/>
            <a:ahLst/>
            <a:cxnLst/>
            <a:rect l="l" t="t" r="r" b="b"/>
            <a:pathLst>
              <a:path w="3543300" h="7144">
                <a:moveTo>
                  <a:pt x="0" y="0"/>
                </a:moveTo>
                <a:lnTo>
                  <a:pt x="3543300" y="0"/>
                </a:lnTo>
                <a:lnTo>
                  <a:pt x="3543300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7C3AED">
              <a:alpha val="10000"/>
            </a:srgbClr>
          </a:solidFill>
          <a:ln/>
        </p:spPr>
      </p:sp>
      <p:sp>
        <p:nvSpPr>
          <p:cNvPr id="25" name="text [lp:18]"/>
          <p:cNvSpPr/>
          <p:nvPr/>
        </p:nvSpPr>
        <p:spPr>
          <a:xfrm>
            <a:off x="4943475" y="4193381"/>
            <a:ext cx="3543300" cy="321469"/>
          </a:xfrm>
          <a:prstGeom prst="rect">
            <a:avLst/>
          </a:prstGeom>
          <a:ln/>
        </p:spPr>
        <p:txBody>
          <a:bodyPr wrap="square" lIns="0" tIns="142875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80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保留原有逻辑，完成从阅读结构到演示结构的转换。</a:t>
            </a:r>
            <a:endParaRPr lang="en-US" sz="800" dirty="0"/>
          </a:p>
        </p:txBody>
      </p:sp>
      <p:sp>
        <p:nvSpPr>
          <p:cNvPr id="26" name="text [lp:19]"/>
          <p:cNvSpPr/>
          <p:nvPr/>
        </p:nvSpPr>
        <p:spPr>
          <a:xfrm>
            <a:off x="428625" y="1250156"/>
            <a:ext cx="4000500" cy="292894"/>
          </a:xfrm>
          <a:prstGeom prst="rect">
            <a:avLst/>
          </a:prstGeom>
          <a:ln/>
        </p:spPr>
        <p:txBody>
          <a:bodyPr wrap="square" lIns="171450" tIns="85725" rIns="171450" bIns="85725" rtlCol="0" anchor="t"/>
          <a:lstStyle/>
          <a:p>
            <a:pPr algn="l" indent="0" marL="0">
              <a:buNone/>
            </a:pPr>
            <a:r>
              <a:rPr lang="zh-CN" altLang="en-US" sz="700" b="1" spc="59" kern="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痛点</a:t>
            </a:r>
            <a:endParaRPr lang="en-US" sz="700" dirty="0"/>
          </a:p>
        </p:txBody>
      </p:sp>
      <p:sp>
        <p:nvSpPr>
          <p:cNvPr id="27" name="text [lp:20]"/>
          <p:cNvSpPr/>
          <p:nvPr/>
        </p:nvSpPr>
        <p:spPr>
          <a:xfrm>
            <a:off x="4714875" y="1250156"/>
            <a:ext cx="4000500" cy="292894"/>
          </a:xfrm>
          <a:prstGeom prst="rect">
            <a:avLst/>
          </a:prstGeom>
          <a:ln/>
        </p:spPr>
        <p:txBody>
          <a:bodyPr wrap="square" lIns="171450" tIns="85725" rIns="171450" bIns="85725" rtlCol="0" anchor="t"/>
          <a:lstStyle/>
          <a:p>
            <a:pPr algn="l" indent="0" marL="0">
              <a:buNone/>
            </a:pPr>
            <a:r>
              <a:rPr lang="zh-CN" altLang="en-US" sz="700" b="1" spc="59" kern="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文稿转PPT功能</a:t>
            </a:r>
            <a:endParaRPr lang="en-US" sz="700" dirty="0"/>
          </a:p>
        </p:txBody>
      </p:sp>
      <p:sp>
        <p:nvSpPr>
          <p:cNvPr id="28" name="Shape 22"/>
          <p:cNvSpPr/>
          <p:nvPr/>
        </p:nvSpPr>
        <p:spPr>
          <a:xfrm>
            <a:off x="428625" y="857250"/>
            <a:ext cx="8286750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25000"/>
                </a:srgbClr>
              </a:gs>
              <a:gs pos="50000">
                <a:srgbClr val="7C3AED">
                  <a:alpha val="8000"/>
                </a:srgbClr>
              </a:gs>
              <a:gs pos="53125">
                <a:srgbClr val="7C3AED">
                  <a:alpha val="7500"/>
                </a:srgbClr>
              </a:gs>
              <a:gs pos="56250">
                <a:srgbClr val="7C3AED">
                  <a:alpha val="7000"/>
                </a:srgbClr>
              </a:gs>
              <a:gs pos="59375">
                <a:srgbClr val="7C3AED">
                  <a:alpha val="6500"/>
                </a:srgbClr>
              </a:gs>
              <a:gs pos="62500">
                <a:srgbClr val="7C3AED">
                  <a:alpha val="6000"/>
                </a:srgbClr>
              </a:gs>
              <a:gs pos="65625">
                <a:srgbClr val="7C3AED">
                  <a:alpha val="5500"/>
                </a:srgbClr>
              </a:gs>
              <a:gs pos="68750">
                <a:srgbClr val="7C3AED">
                  <a:alpha val="5000"/>
                </a:srgbClr>
              </a:gs>
              <a:gs pos="71875">
                <a:srgbClr val="7C3AED">
                  <a:alpha val="4500"/>
                </a:srgbClr>
              </a:gs>
              <a:gs pos="75000">
                <a:srgbClr val="7C3AED">
                  <a:alpha val="4000"/>
                </a:srgbClr>
              </a:gs>
              <a:gs pos="78125">
                <a:srgbClr val="7C3AED">
                  <a:alpha val="3500"/>
                </a:srgbClr>
              </a:gs>
              <a:gs pos="81250">
                <a:srgbClr val="7C3AED">
                  <a:alpha val="3000"/>
                </a:srgbClr>
              </a:gs>
              <a:gs pos="84375">
                <a:srgbClr val="7C3AED">
                  <a:alpha val="2500"/>
                </a:srgbClr>
              </a:gs>
              <a:gs pos="87500">
                <a:srgbClr val="7C3AED">
                  <a:alpha val="2000"/>
                </a:srgbClr>
              </a:gs>
              <a:gs pos="90625">
                <a:srgbClr val="7C3AED">
                  <a:alpha val="1500"/>
                </a:srgbClr>
              </a:gs>
              <a:gs pos="93750">
                <a:srgbClr val="7C3AED">
                  <a:alpha val="1000"/>
                </a:srgbClr>
              </a:gs>
              <a:gs pos="96875">
                <a:srgbClr val="7C3AED">
                  <a:alpha val="500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9" name="Shape 23"/>
          <p:cNvSpPr/>
          <p:nvPr/>
        </p:nvSpPr>
        <p:spPr>
          <a:xfrm>
            <a:off x="428625" y="4793456"/>
            <a:ext cx="8286750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938"/>
                </a:srgbClr>
              </a:gs>
              <a:gs pos="6250">
                <a:srgbClr val="7C3AED">
                  <a:alpha val="1875"/>
                </a:srgbClr>
              </a:gs>
              <a:gs pos="9375">
                <a:srgbClr val="7C3AED">
                  <a:alpha val="2813"/>
                </a:srgbClr>
              </a:gs>
              <a:gs pos="12500">
                <a:srgbClr val="7C3AED">
                  <a:alpha val="3750"/>
                </a:srgbClr>
              </a:gs>
              <a:gs pos="15625">
                <a:srgbClr val="7C3AED">
                  <a:alpha val="4688"/>
                </a:srgbClr>
              </a:gs>
              <a:gs pos="18750">
                <a:srgbClr val="7C3AED">
                  <a:alpha val="5625"/>
                </a:srgbClr>
              </a:gs>
              <a:gs pos="21875">
                <a:srgbClr val="7C3AED">
                  <a:alpha val="6563"/>
                </a:srgbClr>
              </a:gs>
              <a:gs pos="25000">
                <a:srgbClr val="7C3AED">
                  <a:alpha val="7500"/>
                </a:srgbClr>
              </a:gs>
              <a:gs pos="28125">
                <a:srgbClr val="7C3AED">
                  <a:alpha val="8438"/>
                </a:srgbClr>
              </a:gs>
              <a:gs pos="31250">
                <a:srgbClr val="7C3AED">
                  <a:alpha val="9375"/>
                </a:srgbClr>
              </a:gs>
              <a:gs pos="34375">
                <a:srgbClr val="7C3AED">
                  <a:alpha val="10313"/>
                </a:srgbClr>
              </a:gs>
              <a:gs pos="37500">
                <a:srgbClr val="7C3AED">
                  <a:alpha val="11250"/>
                </a:srgbClr>
              </a:gs>
              <a:gs pos="40625">
                <a:srgbClr val="7C3AED">
                  <a:alpha val="12188"/>
                </a:srgbClr>
              </a:gs>
              <a:gs pos="43750">
                <a:srgbClr val="7C3AED">
                  <a:alpha val="13125"/>
                </a:srgbClr>
              </a:gs>
              <a:gs pos="46875">
                <a:srgbClr val="7C3AED">
                  <a:alpha val="14063"/>
                </a:srgbClr>
              </a:gs>
              <a:gs pos="50000">
                <a:srgbClr val="7C3AED">
                  <a:alpha val="15000"/>
                </a:srgbClr>
              </a:gs>
              <a:gs pos="53125">
                <a:srgbClr val="7C3AED">
                  <a:alpha val="14063"/>
                </a:srgbClr>
              </a:gs>
              <a:gs pos="56250">
                <a:srgbClr val="7C3AED">
                  <a:alpha val="13125"/>
                </a:srgbClr>
              </a:gs>
              <a:gs pos="59375">
                <a:srgbClr val="7C3AED">
                  <a:alpha val="12188"/>
                </a:srgbClr>
              </a:gs>
              <a:gs pos="62500">
                <a:srgbClr val="7C3AED">
                  <a:alpha val="11250"/>
                </a:srgbClr>
              </a:gs>
              <a:gs pos="65625">
                <a:srgbClr val="7C3AED">
                  <a:alpha val="10313"/>
                </a:srgbClr>
              </a:gs>
              <a:gs pos="68750">
                <a:srgbClr val="7C3AED">
                  <a:alpha val="9375"/>
                </a:srgbClr>
              </a:gs>
              <a:gs pos="71875">
                <a:srgbClr val="7C3AED">
                  <a:alpha val="8438"/>
                </a:srgbClr>
              </a:gs>
              <a:gs pos="75000">
                <a:srgbClr val="7C3AED">
                  <a:alpha val="7500"/>
                </a:srgbClr>
              </a:gs>
              <a:gs pos="78125">
                <a:srgbClr val="7C3AED">
                  <a:alpha val="6563"/>
                </a:srgbClr>
              </a:gs>
              <a:gs pos="81250">
                <a:srgbClr val="7C3AED">
                  <a:alpha val="5625"/>
                </a:srgbClr>
              </a:gs>
              <a:gs pos="84375">
                <a:srgbClr val="7C3AED">
                  <a:alpha val="4688"/>
                </a:srgbClr>
              </a:gs>
              <a:gs pos="87500">
                <a:srgbClr val="7C3AED">
                  <a:alpha val="3750"/>
                </a:srgbClr>
              </a:gs>
              <a:gs pos="90625">
                <a:srgbClr val="7C3AED">
                  <a:alpha val="2813"/>
                </a:srgbClr>
              </a:gs>
              <a:gs pos="93750">
                <a:srgbClr val="7C3AED">
                  <a:alpha val="1875"/>
                </a:srgbClr>
              </a:gs>
              <a:gs pos="96875">
                <a:srgbClr val="7C3AED">
                  <a:alpha val="938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0" name="Shape 24"/>
          <p:cNvSpPr/>
          <p:nvPr/>
        </p:nvSpPr>
        <p:spPr>
          <a:xfrm>
            <a:off x="428625" y="325041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598959" y="257175"/>
            <a:ext cx="975122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spc="-12" kern="0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已有完整内容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673477" y="260747"/>
            <a:ext cx="564356" cy="185738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7144">
            <a:solidFill>
              <a:srgbClr val="7C3AED">
                <a:alpha val="1800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763332" y="335756"/>
            <a:ext cx="35719" cy="35719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28"/>
          <p:cNvSpPr/>
          <p:nvPr/>
        </p:nvSpPr>
        <p:spPr>
          <a:xfrm>
            <a:off x="5856201" y="300038"/>
            <a:ext cx="29177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600" b="1" spc="62" kern="0" dirty="0">
                <a:solidFill>
                  <a:srgbClr val="6D28D9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第 3 章</a:t>
            </a:r>
            <a:endParaRPr lang="en-US" sz="600" dirty="0"/>
          </a:p>
        </p:txBody>
      </p:sp>
      <p:sp>
        <p:nvSpPr>
          <p:cNvPr id="35" name="Text 29"/>
          <p:cNvSpPr/>
          <p:nvPr/>
        </p:nvSpPr>
        <p:spPr>
          <a:xfrm>
            <a:off x="6342255" y="296466"/>
            <a:ext cx="24003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 / ClawPartner PPT智能生成助手</a:t>
            </a:r>
            <a:endParaRPr lang="en-US" sz="600" dirty="0"/>
          </a:p>
        </p:txBody>
      </p:sp>
      <p:sp>
        <p:nvSpPr>
          <p:cNvPr id="36" name="Shape 30"/>
          <p:cNvSpPr/>
          <p:nvPr/>
        </p:nvSpPr>
        <p:spPr>
          <a:xfrm>
            <a:off x="428625" y="4954191"/>
            <a:ext cx="35719" cy="35719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</p:spPr>
      </p:sp>
      <p:sp>
        <p:nvSpPr>
          <p:cNvPr id="37" name="Text 31"/>
          <p:cNvSpPr/>
          <p:nvPr/>
        </p:nvSpPr>
        <p:spPr>
          <a:xfrm>
            <a:off x="536786" y="4918472"/>
            <a:ext cx="92154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37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38" name="Text 32"/>
          <p:cNvSpPr/>
          <p:nvPr/>
        </p:nvSpPr>
        <p:spPr>
          <a:xfrm>
            <a:off x="1503313" y="4918472"/>
            <a:ext cx="500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600" dirty="0"/>
          </a:p>
        </p:txBody>
      </p:sp>
      <p:sp>
        <p:nvSpPr>
          <p:cNvPr id="39" name="Text 33"/>
          <p:cNvSpPr/>
          <p:nvPr/>
        </p:nvSpPr>
        <p:spPr>
          <a:xfrm>
            <a:off x="8474999" y="4904184"/>
            <a:ext cx="92869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7" kern="0" dirty="0">
                <a:solidFill>
                  <a:srgbClr val="4F46E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700" dirty="0"/>
          </a:p>
        </p:txBody>
      </p:sp>
      <p:sp>
        <p:nvSpPr>
          <p:cNvPr id="40" name="Text 34"/>
          <p:cNvSpPr/>
          <p:nvPr/>
        </p:nvSpPr>
        <p:spPr>
          <a:xfrm>
            <a:off x="8584555" y="4918472"/>
            <a:ext cx="642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600" dirty="0"/>
          </a:p>
        </p:txBody>
      </p:sp>
      <p:sp>
        <p:nvSpPr>
          <p:cNvPr id="41" name="Text 35"/>
          <p:cNvSpPr/>
          <p:nvPr/>
        </p:nvSpPr>
        <p:spPr>
          <a:xfrm>
            <a:off x="8664922" y="4918472"/>
            <a:ext cx="7858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9CA3AF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2026-09-15T06:34:00Z</dcterms:created>
  <dcterms:modified xsi:type="dcterms:W3CDTF">2026-09-15T06:34:00Z</dcterms:modified>
</cp:coreProperties>
</file>